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6" r:id="rId7"/>
    <p:sldId id="289" r:id="rId8"/>
    <p:sldId id="288" r:id="rId9"/>
    <p:sldId id="291" r:id="rId10"/>
    <p:sldId id="290" r:id="rId11"/>
    <p:sldId id="294" r:id="rId12"/>
    <p:sldId id="295" r:id="rId13"/>
    <p:sldId id="292" r:id="rId14"/>
    <p:sldId id="298" r:id="rId15"/>
    <p:sldId id="296" r:id="rId16"/>
    <p:sldId id="299" r:id="rId17"/>
    <p:sldId id="301" r:id="rId18"/>
    <p:sldId id="297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646" autoAdjust="0"/>
  </p:normalViewPr>
  <p:slideViewPr>
    <p:cSldViewPr snapToGrid="0">
      <p:cViewPr varScale="1">
        <p:scale>
          <a:sx n="79" d="100"/>
          <a:sy n="79" d="100"/>
        </p:scale>
        <p:origin x="926" y="67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3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DCB03DF-958A-419E-93C9-F4DD4206164B}" type="datetime1">
              <a:rPr lang="ru-RU" smtClean="0"/>
              <a:t>29.01.2026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AFF3A6F-DEFA-45E0-9496-BEE7C2C6F3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3C04E87-AB6C-43AD-B5E7-BB59ED96ADF8}" type="datetime1">
              <a:rPr lang="ru-RU" smtClean="0"/>
              <a:pPr/>
              <a:t>29.01.2026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97DC217-DF71-1A49-B3EA-559F1F43B0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9672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825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97DC217-DF71-1A49-B3EA-559F1F43B0FF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изображение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изображение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ru-RU" sz="3200"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ru-RU" sz="60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ru-RU" sz="32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ru-RU" sz="4200" b="1">
                <a:solidFill>
                  <a:schemeClr val="bg1"/>
                </a:solidFill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содержимое и изображение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bg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8" name="Рисунок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, содержимое и изображ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  <a:cs typeface="+mn-cs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1pPr>
            <a:lvl2pPr marL="347663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2pPr>
            <a:lvl3pPr marL="6858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3pPr>
            <a:lvl4pPr marL="9144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4pPr>
            <a:lvl5pPr marL="1143000" indent="0" algn="ctr">
              <a:buFont typeface="Arial" panose="020B0604020202020204" pitchFamily="34" charset="0"/>
              <a:buNone/>
              <a:defRPr lang="ru-RU" sz="2000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 rtlCol="0"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иаграмма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ru-RU" sz="42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ru-RU">
                <a:latin typeface="Arial" panose="020B0604020202020204" pitchFamily="34" charset="0"/>
                <a:cs typeface="+mn-cs"/>
              </a:defRPr>
            </a:lvl1pPr>
            <a:lvl2pPr marL="457200" indent="0">
              <a:buNone/>
              <a:defRPr lang="ru-RU">
                <a:latin typeface="Arial" panose="020B0604020202020204" pitchFamily="34" charset="0"/>
                <a:cs typeface="+mn-cs"/>
              </a:defRPr>
            </a:lvl2pPr>
            <a:lvl3pPr marL="914400" indent="0">
              <a:buNone/>
              <a:defRPr lang="ru-RU">
                <a:latin typeface="Arial" panose="020B0604020202020204" pitchFamily="34" charset="0"/>
                <a:cs typeface="+mn-cs"/>
              </a:defRPr>
            </a:lvl3pPr>
            <a:lvl4pPr marL="1371600" indent="0">
              <a:buNone/>
              <a:defRPr lang="ru-RU">
                <a:latin typeface="Arial" panose="020B0604020202020204" pitchFamily="34" charset="0"/>
                <a:cs typeface="+mn-cs"/>
              </a:defRPr>
            </a:lvl4pPr>
            <a:lvl5pPr marL="1828800" indent="0">
              <a:buNone/>
              <a:defRPr lang="ru-RU">
                <a:latin typeface="Arial" panose="020B0604020202020204" pitchFamily="34" charset="0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accent3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Полилиния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Полилиния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ru-RU" sz="6000" b="1">
                <a:latin typeface="Arial" panose="020B0604020202020204" pitchFamily="34" charset="0"/>
                <a:cs typeface="+mj-cs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ru-RU" sz="2800">
                <a:latin typeface="Arial" panose="020B0604020202020204" pitchFamily="34" charset="0"/>
                <a:cs typeface="+mn-cs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r>
              <a:rPr lang="ru-RU" dirty="0"/>
              <a:t>08.09.20ГГ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tx2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813" y="766313"/>
            <a:ext cx="7096933" cy="383013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800" dirty="0"/>
              <a:t>Лекция № 3. Понятие программного интерфейса, его назначение. Виды интерфейсов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59" y="189739"/>
            <a:ext cx="3333681" cy="7491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1484067"/>
            <a:ext cx="9779182" cy="435285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ru-RU"/>
            </a:defPPr>
          </a:lstStyle>
          <a:p>
            <a:r>
              <a:rPr lang="ru-RU" dirty="0"/>
              <a:t>Современные операционные системы (ОС) служат связующим звеном между пользователем и аппаратным обеспечением компьютера. Чтобы пользователь мог эффективно работать с системой, необходимы средства взаимодействия. В этой лекции мы подробно рассмотрим различные языки взаимодействия с операционной системой, а также понятие программного интерфейса и его виды.</a:t>
            </a:r>
          </a:p>
          <a:p>
            <a:r>
              <a:rPr lang="ru-RU" b="1" dirty="0"/>
              <a:t>Язык взаимодействия пользователя с ОС </a:t>
            </a:r>
            <a:r>
              <a:rPr lang="ru-RU" dirty="0"/>
              <a:t>— это способ, с помощью которого пользователь может давать команды операционной системе и получать результаты их выполнения. Эти команды могут быть как текстовыми, так и графическими.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035" y="562708"/>
            <a:ext cx="9378588" cy="9144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Текстовые интерфейсы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FB47F84-EE23-4394-89CA-86C93492FF42}"/>
              </a:ext>
            </a:extLst>
          </p:cNvPr>
          <p:cNvSpPr txBox="1">
            <a:spLocks/>
          </p:cNvSpPr>
          <p:nvPr/>
        </p:nvSpPr>
        <p:spPr>
          <a:xfrm>
            <a:off x="1507787" y="1897830"/>
            <a:ext cx="9895836" cy="356088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6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sz="2400" b="0" dirty="0"/>
              <a:t>Текстовые интерфейсы, или командные строки, предполагают ввод</a:t>
            </a:r>
          </a:p>
          <a:p>
            <a:r>
              <a:rPr lang="ru-RU" sz="2400" b="0" dirty="0"/>
              <a:t>команд в текстовом формате. Это один из старейших и наиболее мощных способов взаимодействия с ОС. С помощью командной строки пользователи могут напрямую взаимодействовать с системой, используя определенные команды для выполнения различных операций. </a:t>
            </a:r>
          </a:p>
          <a:p>
            <a:endParaRPr lang="ru-RU" sz="2400" b="0" dirty="0"/>
          </a:p>
          <a:p>
            <a:r>
              <a:rPr lang="ru-RU" sz="2400" b="0" dirty="0"/>
              <a:t>В операционных системах семейства Unix/Linux используется</a:t>
            </a:r>
          </a:p>
          <a:p>
            <a:r>
              <a:rPr lang="ru-RU" sz="2400" b="0" dirty="0"/>
              <a:t>терминал, где пользователь может вводить команды, такие как </a:t>
            </a:r>
            <a:r>
              <a:rPr lang="ru-RU" sz="2400" b="0" dirty="0" err="1"/>
              <a:t>ls</a:t>
            </a:r>
            <a:r>
              <a:rPr lang="ru-RU" sz="2400" b="0" dirty="0"/>
              <a:t> для отображения списка файлов в директории или </a:t>
            </a:r>
            <a:r>
              <a:rPr lang="ru-RU" sz="2400" b="0" dirty="0" err="1"/>
              <a:t>cd</a:t>
            </a:r>
            <a:r>
              <a:rPr lang="ru-RU" sz="2400" b="0" dirty="0"/>
              <a:t> для перехода между каталогами.</a:t>
            </a:r>
          </a:p>
          <a:p>
            <a:r>
              <a:rPr lang="ru-RU" sz="2400" b="0" dirty="0"/>
              <a:t>- В Windows существует командная строка (</a:t>
            </a:r>
            <a:r>
              <a:rPr lang="ru-RU" sz="2400" b="0" dirty="0" err="1"/>
              <a:t>cmd</a:t>
            </a:r>
            <a:r>
              <a:rPr lang="ru-RU" sz="2400" b="0" dirty="0"/>
              <a:t>), где можно выполнять аналогичные команды, например </a:t>
            </a:r>
            <a:r>
              <a:rPr lang="ru-RU" sz="2400" b="0" dirty="0" err="1"/>
              <a:t>dir</a:t>
            </a:r>
            <a:r>
              <a:rPr lang="ru-RU" sz="2400" b="0" dirty="0"/>
              <a:t> для отображения списка файлов.</a:t>
            </a:r>
          </a:p>
          <a:p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">
            <a:extLst>
              <a:ext uri="{FF2B5EF4-FFF2-40B4-BE49-F238E27FC236}">
                <a16:creationId xmlns:a16="http://schemas.microsoft.com/office/drawing/2014/main" id="{9AC1369B-74BE-AB33-A69A-A7DF3095E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4" y="718304"/>
            <a:ext cx="6417697" cy="33770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B223F7-5222-B73F-5FF4-90F24C41F6D5}"/>
              </a:ext>
            </a:extLst>
          </p:cNvPr>
          <p:cNvSpPr txBox="1"/>
          <p:nvPr/>
        </p:nvSpPr>
        <p:spPr>
          <a:xfrm>
            <a:off x="5194570" y="4095345"/>
            <a:ext cx="53891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Командные оболочки, такие как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Bash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Linux или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PowerShell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Windows, предоставляют пользователю мощный инструментарий для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автоматизации и администрирования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698" y="428016"/>
            <a:ext cx="8356060" cy="82271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800" dirty="0"/>
              <a:t>Графические интерфейсы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579" y="1717194"/>
            <a:ext cx="10149383" cy="18288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000" dirty="0"/>
              <a:t>Графический пользовательский интерфейс (GUI, </a:t>
            </a:r>
            <a:r>
              <a:rPr lang="ru-RU" sz="2000" dirty="0" err="1"/>
              <a:t>Graphical</a:t>
            </a:r>
            <a:r>
              <a:rPr lang="ru-RU" sz="2000" dirty="0"/>
              <a:t> User</a:t>
            </a:r>
          </a:p>
          <a:p>
            <a:r>
              <a:rPr lang="ru-RU" sz="2000" dirty="0"/>
              <a:t>Interface) представляет собой взаимодействие с ОС через визуальные</a:t>
            </a:r>
          </a:p>
          <a:p>
            <a:r>
              <a:rPr lang="ru-RU" sz="2000" dirty="0"/>
              <a:t>элементы, такие как окна, кнопки, меню и значки. GUI делает операционную</a:t>
            </a:r>
          </a:p>
          <a:p>
            <a:r>
              <a:rPr lang="ru-RU" sz="2000" dirty="0"/>
              <a:t>систему доступной для широкой аудитории, включая тех пользователей, кто</a:t>
            </a:r>
          </a:p>
          <a:p>
            <a:r>
              <a:rPr lang="ru-RU" sz="2000" dirty="0"/>
              <a:t>не обладает специальными техническими знаниями.</a:t>
            </a:r>
          </a:p>
          <a:p>
            <a:r>
              <a:rPr lang="ru-RU" sz="2000" dirty="0"/>
              <a:t>- В Windows графический интерфейс включает в себя рабочий стол,</a:t>
            </a:r>
          </a:p>
          <a:p>
            <a:r>
              <a:rPr lang="ru-RU" sz="2000" dirty="0"/>
              <a:t>панели задач, окна приложений, меню "Пуск" и другие элементы управления.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35A2E0-DA04-C4CC-9320-417BC3328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744" y="4505491"/>
            <a:ext cx="2225967" cy="23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41804" y="1080355"/>
            <a:ext cx="9508392" cy="501271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- В </a:t>
            </a:r>
            <a:r>
              <a:rPr lang="ru-RU" sz="2400" dirty="0" err="1"/>
              <a:t>macOS</a:t>
            </a:r>
            <a:r>
              <a:rPr lang="ru-RU" sz="2400" dirty="0"/>
              <a:t> аналогичные функции выполняют элементы интерфейса, такие как док, меню в верхней части экрана, и различные всплывающие окна.</a:t>
            </a:r>
            <a:endParaRPr lang="ru-RU" sz="24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DECB71-B610-62F5-9E82-77A892DAE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51" y="3172197"/>
            <a:ext cx="8610845" cy="829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A35B9C-ACA7-FA15-38B0-42F20F39344E}"/>
              </a:ext>
            </a:extLst>
          </p:cNvPr>
          <p:cNvSpPr txBox="1"/>
          <p:nvPr/>
        </p:nvSpPr>
        <p:spPr>
          <a:xfrm>
            <a:off x="5194570" y="4694108"/>
            <a:ext cx="6433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Графический интерфейс значительно упрощает взаимодействие, делая его более интуитивно понятным и визуально привлекательным.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963" y="175098"/>
            <a:ext cx="6926220" cy="71750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Голосовые интерфейсы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073" y="1205955"/>
            <a:ext cx="5434693" cy="4446089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sz="2400" dirty="0"/>
              <a:t>Голосовые интерфейсы — это новая форма взаимодействия, где</a:t>
            </a:r>
          </a:p>
          <a:p>
            <a:pPr marL="0" lvl="1" indent="0">
              <a:buNone/>
            </a:pPr>
            <a:r>
              <a:rPr lang="ru-RU" sz="2400" dirty="0"/>
              <a:t>пользователь может давать команды ОС с помощью речи. Голосовые</a:t>
            </a:r>
          </a:p>
          <a:p>
            <a:pPr marL="0" lvl="1" indent="0">
              <a:buNone/>
            </a:pPr>
            <a:r>
              <a:rPr lang="ru-RU" sz="2400" dirty="0"/>
              <a:t>системы используют технологии распознавания речи и могут выполнять</a:t>
            </a:r>
          </a:p>
          <a:p>
            <a:pPr marL="0" lvl="1" indent="0">
              <a:buNone/>
            </a:pPr>
            <a:r>
              <a:rPr lang="ru-RU" sz="2400" dirty="0"/>
              <a:t>команды, такие как поиск информации, запуск приложений или управление</a:t>
            </a:r>
          </a:p>
          <a:p>
            <a:pPr marL="0" lvl="1" indent="0">
              <a:buNone/>
            </a:pPr>
            <a:r>
              <a:rPr lang="ru-RU" sz="2400" dirty="0"/>
              <a:t>настройками.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89561" y="2005097"/>
            <a:ext cx="4663440" cy="254744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/>
              <a:t>- Голосовой помощник </a:t>
            </a:r>
            <a:r>
              <a:rPr lang="ru-RU" dirty="0" err="1"/>
              <a:t>Siri</a:t>
            </a:r>
            <a:r>
              <a:rPr lang="ru-RU" dirty="0"/>
              <a:t> в Apple, Google </a:t>
            </a:r>
            <a:r>
              <a:rPr lang="ru-RU" dirty="0" err="1"/>
              <a:t>Assistant</a:t>
            </a:r>
            <a:r>
              <a:rPr lang="ru-RU" dirty="0"/>
              <a:t> на </a:t>
            </a:r>
            <a:r>
              <a:rPr lang="ru-RU" dirty="0" err="1"/>
              <a:t>Android</a:t>
            </a:r>
            <a:r>
              <a:rPr lang="ru-RU" dirty="0"/>
              <a:t> и</a:t>
            </a:r>
          </a:p>
          <a:p>
            <a:pPr marL="0" lvl="1" indent="0">
              <a:buNone/>
            </a:pPr>
            <a:r>
              <a:rPr lang="ru-RU" dirty="0" err="1"/>
              <a:t>Cortana</a:t>
            </a:r>
            <a:r>
              <a:rPr lang="ru-RU" dirty="0"/>
              <a:t> в Windows — это примеры голосовых интерфейсов, которые</a:t>
            </a:r>
          </a:p>
          <a:p>
            <a:pPr marL="0" lvl="1" indent="0">
              <a:buNone/>
            </a:pPr>
            <a:r>
              <a:rPr lang="ru-RU" dirty="0"/>
              <a:t>позволяют пользователям взаимодействовать с ОС с помощью голоса.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20" y="0"/>
            <a:ext cx="8696993" cy="8686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Программный интерфейс (</a:t>
            </a:r>
            <a:r>
              <a:rPr lang="en-US" dirty="0"/>
              <a:t>API)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37921" y="1351438"/>
            <a:ext cx="9738770" cy="343392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marL="0" indent="0" algn="just">
              <a:buNone/>
            </a:pPr>
            <a:r>
              <a:rPr lang="ru-RU" b="1" dirty="0"/>
              <a:t>Программный интерфейс </a:t>
            </a:r>
            <a:r>
              <a:rPr lang="ru-RU" dirty="0"/>
              <a:t>(API, Application </a:t>
            </a:r>
            <a:r>
              <a:rPr lang="ru-RU" dirty="0" err="1"/>
              <a:t>Programming</a:t>
            </a:r>
            <a:r>
              <a:rPr lang="ru-RU" dirty="0"/>
              <a:t> Interface) —</a:t>
            </a:r>
          </a:p>
          <a:p>
            <a:pPr marL="0" indent="0" algn="just">
              <a:buNone/>
            </a:pPr>
            <a:r>
              <a:rPr lang="ru-RU" dirty="0"/>
              <a:t>это набор средств и протоколов, который позволяет программному</a:t>
            </a:r>
          </a:p>
          <a:p>
            <a:pPr marL="0" indent="0" algn="just">
              <a:buNone/>
            </a:pPr>
            <a:r>
              <a:rPr lang="ru-RU" dirty="0"/>
              <a:t>обеспечению взаимодействовать с операционной системой или другими</a:t>
            </a:r>
          </a:p>
          <a:p>
            <a:pPr marL="0" indent="0" algn="just">
              <a:buNone/>
            </a:pPr>
            <a:r>
              <a:rPr lang="ru-RU" dirty="0"/>
              <a:t>программами. API является основным инструментом для разработчиков,</a:t>
            </a:r>
          </a:p>
          <a:p>
            <a:pPr marL="0" indent="0" algn="just">
              <a:buNone/>
            </a:pPr>
            <a:r>
              <a:rPr lang="ru-RU" dirty="0"/>
              <a:t>создающих приложения, которые должны работать на разных платформах.</a:t>
            </a:r>
          </a:p>
          <a:p>
            <a:pPr marL="0" indent="0" algn="just">
              <a:buNone/>
            </a:pPr>
            <a:r>
              <a:rPr lang="ru-RU" dirty="0"/>
              <a:t>API включает в себя:</a:t>
            </a:r>
          </a:p>
          <a:p>
            <a:pPr marL="0" indent="0" algn="just">
              <a:buNone/>
            </a:pPr>
            <a:r>
              <a:rPr lang="ru-RU" dirty="0"/>
              <a:t>- Функции или методы, которые предоставляет операционная система</a:t>
            </a:r>
          </a:p>
          <a:p>
            <a:pPr marL="0" indent="0" algn="just">
              <a:buNone/>
            </a:pPr>
            <a:r>
              <a:rPr lang="ru-RU" dirty="0"/>
              <a:t>или другие программы.</a:t>
            </a:r>
          </a:p>
          <a:p>
            <a:pPr marL="0" indent="0" algn="just">
              <a:buNone/>
            </a:pPr>
            <a:r>
              <a:rPr lang="ru-RU" dirty="0"/>
              <a:t>- Описание того, как и в каком порядке нужно вызывать эти функции.</a:t>
            </a:r>
          </a:p>
          <a:p>
            <a:pPr marL="0" indent="0" algn="just">
              <a:buNone/>
            </a:pPr>
            <a:r>
              <a:rPr lang="ru-RU" dirty="0"/>
              <a:t>- Формат данных, который ожидает система или приложение.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740" y="149157"/>
            <a:ext cx="1302426" cy="7772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API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78191" y="814789"/>
            <a:ext cx="10292988" cy="389054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API позволяет скрывать сложность работы с операционной системой и упрощает разработку приложений. Разработчик использует API для выполнения определенных операций, таких как доступ к файловой системе, управление памятью, создание сетевых соединений и многое другое.</a:t>
            </a:r>
          </a:p>
          <a:p>
            <a:r>
              <a:rPr lang="ru-RU" sz="2400" dirty="0"/>
              <a:t>Главной целью API является создание абстракции над сложной внутренней реализацией операционной системы или другой программы. Это позволяет программистам не беспокоиться о низкоуровневых деталях и сосредоточиться на решении задач своей программы.</a:t>
            </a:r>
          </a:p>
          <a:p>
            <a:r>
              <a:rPr lang="ru-RU" sz="2400" dirty="0"/>
              <a:t>- Если приложение хочет открыть файл, оно не взаимодействует</a:t>
            </a:r>
          </a:p>
          <a:p>
            <a:r>
              <a:rPr lang="ru-RU" sz="2400" dirty="0"/>
              <a:t>напрямую с аппаратной частью, а использует функцию API ОС,</a:t>
            </a:r>
          </a:p>
          <a:p>
            <a:r>
              <a:rPr lang="ru-RU" sz="2400" dirty="0"/>
              <a:t>например, </a:t>
            </a:r>
            <a:r>
              <a:rPr lang="ru-RU" sz="2400" dirty="0" err="1"/>
              <a:t>fopen</a:t>
            </a:r>
            <a:r>
              <a:rPr lang="ru-RU" sz="2400" dirty="0"/>
              <a:t> в языке C для открытия файла.</a:t>
            </a:r>
          </a:p>
          <a:p>
            <a:r>
              <a:rPr lang="ru-RU" sz="2400" dirty="0"/>
              <a:t>- Для работы с сетью можно использовать API сокетов, который</a:t>
            </a:r>
          </a:p>
          <a:p>
            <a:r>
              <a:rPr lang="ru-RU" sz="2400" dirty="0"/>
              <a:t>абстрагирует детали сетевых соединений.</a:t>
            </a:r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3EC37F42-0BA3-40DE-A2EF-D8591AC56F58}"/>
              </a:ext>
            </a:extLst>
          </p:cNvPr>
          <p:cNvCxnSpPr>
            <a:cxnSpLocks/>
          </p:cNvCxnSpPr>
          <p:nvPr/>
        </p:nvCxnSpPr>
        <p:spPr>
          <a:xfrm flipH="1">
            <a:off x="2069077" y="1473976"/>
            <a:ext cx="2373501" cy="2341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F5448F2-7FB9-4424-8D76-16235937FE7D}"/>
              </a:ext>
            </a:extLst>
          </p:cNvPr>
          <p:cNvCxnSpPr>
            <a:cxnSpLocks/>
          </p:cNvCxnSpPr>
          <p:nvPr/>
        </p:nvCxnSpPr>
        <p:spPr>
          <a:xfrm flipH="1">
            <a:off x="5090418" y="1481548"/>
            <a:ext cx="51399" cy="248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80E3E4D-6D36-403A-8ED8-C9DDD884489F}"/>
              </a:ext>
            </a:extLst>
          </p:cNvPr>
          <p:cNvCxnSpPr>
            <a:cxnSpLocks/>
          </p:cNvCxnSpPr>
          <p:nvPr/>
        </p:nvCxnSpPr>
        <p:spPr>
          <a:xfrm>
            <a:off x="6053852" y="1538010"/>
            <a:ext cx="1485084" cy="2341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A95F3AC-1B53-4C70-9EF3-7FE59F4E6083}"/>
              </a:ext>
            </a:extLst>
          </p:cNvPr>
          <p:cNvCxnSpPr>
            <a:cxnSpLocks/>
          </p:cNvCxnSpPr>
          <p:nvPr/>
        </p:nvCxnSpPr>
        <p:spPr>
          <a:xfrm>
            <a:off x="7153342" y="1507421"/>
            <a:ext cx="2613228" cy="1780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8C8173-4650-48E5-8F89-504EA139BBC5}"/>
              </a:ext>
            </a:extLst>
          </p:cNvPr>
          <p:cNvSpPr txBox="1"/>
          <p:nvPr/>
        </p:nvSpPr>
        <p:spPr>
          <a:xfrm>
            <a:off x="659011" y="3965777"/>
            <a:ext cx="2820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Пользовательский интерфейс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UI)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DCB0F-72BA-417E-9193-9BFD079275D4}"/>
              </a:ext>
            </a:extLst>
          </p:cNvPr>
          <p:cNvSpPr txBox="1"/>
          <p:nvPr/>
        </p:nvSpPr>
        <p:spPr>
          <a:xfrm>
            <a:off x="3680351" y="4004225"/>
            <a:ext cx="2820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Программный интерфейс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API)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E3182-D82C-4688-8559-96D61233C798}"/>
              </a:ext>
            </a:extLst>
          </p:cNvPr>
          <p:cNvSpPr txBox="1"/>
          <p:nvPr/>
        </p:nvSpPr>
        <p:spPr>
          <a:xfrm>
            <a:off x="6305376" y="3909602"/>
            <a:ext cx="2820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Аппаратный интерфейс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 Interface)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0CA4A-0489-456D-AFDE-E065E9A2AD31}"/>
              </a:ext>
            </a:extLst>
          </p:cNvPr>
          <p:cNvSpPr txBox="1"/>
          <p:nvPr/>
        </p:nvSpPr>
        <p:spPr>
          <a:xfrm>
            <a:off x="8659445" y="3445647"/>
            <a:ext cx="2820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Сетевой интерфейс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834F81D-8BDA-4992-76EF-0E967881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608" y="641228"/>
            <a:ext cx="5904517" cy="797668"/>
          </a:xfrm>
        </p:spPr>
        <p:txBody>
          <a:bodyPr/>
          <a:lstStyle/>
          <a:p>
            <a:r>
              <a:rPr lang="ru-RU" dirty="0"/>
              <a:t>Виды интерфейсов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865" y="383436"/>
            <a:ext cx="8616629" cy="81915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Пользовательский интерфейс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CBECAA-D69F-4850-95C4-2B6A34539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88" y="1582236"/>
            <a:ext cx="9779182" cy="3366813"/>
          </a:xfrm>
        </p:spPr>
        <p:txBody>
          <a:bodyPr/>
          <a:lstStyle/>
          <a:p>
            <a:pPr algn="just"/>
            <a:r>
              <a:rPr lang="ru-RU" sz="2400" dirty="0"/>
              <a:t>Пользовательский интерфейс (User Interface, UI) — это совокупность всех средств, с помощью которых пользователи взаимодействуют с системой. Это может быть как командная строка (CLI), так и графический интерфейс (GUI). Важнейшими аспектами UI являются удобство, доступность и эффективность взаимодействия.</a:t>
            </a:r>
          </a:p>
          <a:p>
            <a:pPr algn="just"/>
            <a:r>
              <a:rPr lang="ru-RU" sz="2400" dirty="0"/>
              <a:t>Примером эффективного использования UI является интерфейс приложения для заказа такси. В этом приложении есть кнопки для вызова машины, меню выбора типа автомобиля и поля ввода адреса. Они расположены таким образом, чтобы пользователю не нужно было тратить много времени на поиск необходимой функции. Это делает взаимодействие с приложением быстрым и удобным.</a:t>
            </a: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3AA129-57DA-4FCD-4AC3-1E1D3087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42" y="1433176"/>
            <a:ext cx="7347811" cy="399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205" y="573930"/>
            <a:ext cx="7845629" cy="88002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400" dirty="0"/>
              <a:t>Программный интерфейс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42" y="1793241"/>
            <a:ext cx="10535921" cy="18288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800" dirty="0"/>
              <a:t>API, как уже обсуждалось, — это средство взаимодействия программ с операционной системой. В отличие от UI, API ориентирован на разработчиков, а не на конечных пользователей.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89E3CA-E68D-8D87-49F7-6371A6D10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717" y="3116664"/>
            <a:ext cx="3885770" cy="336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4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5020" y="305727"/>
            <a:ext cx="7717426" cy="10464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4400" dirty="0"/>
              <a:t>Аппаратный интерфейс (</a:t>
            </a:r>
            <a:r>
              <a:rPr lang="en-US" sz="4400" dirty="0"/>
              <a:t>Hardware Interface)</a:t>
            </a:r>
            <a:endParaRPr lang="ru-RU" sz="44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500" y="1547521"/>
            <a:ext cx="8144147" cy="4878941"/>
          </a:xfrm>
        </p:spPr>
        <p:txBody>
          <a:bodyPr rtlCol="0">
            <a:normAutofit fontScale="92500" lnSpcReduction="10000"/>
          </a:bodyPr>
          <a:lstStyle>
            <a:defPPr>
              <a:defRPr lang="ru-RU"/>
            </a:defPPr>
          </a:lstStyle>
          <a:p>
            <a:r>
              <a:rPr lang="ru-RU" sz="1800" dirty="0"/>
              <a:t>Аппаратный интерфейс — это набор протоколов и стандартов, которые</a:t>
            </a:r>
          </a:p>
          <a:p>
            <a:r>
              <a:rPr lang="ru-RU" sz="1800" dirty="0"/>
              <a:t>используются для взаимодействия операционной системы с аппаратным</a:t>
            </a:r>
          </a:p>
          <a:p>
            <a:r>
              <a:rPr lang="ru-RU" sz="1800" dirty="0"/>
              <a:t>обеспечением. Это включает драйверы устройств, шины передачи данных и</a:t>
            </a:r>
          </a:p>
          <a:p>
            <a:r>
              <a:rPr lang="ru-RU" sz="1800" dirty="0"/>
              <a:t>другие низкоуровневые механизмы. Например, операционная система</a:t>
            </a:r>
          </a:p>
          <a:p>
            <a:r>
              <a:rPr lang="ru-RU" sz="1800" dirty="0"/>
              <a:t>использует интерфейс для взаимодействия с видеокартой, жестким диском</a:t>
            </a:r>
          </a:p>
          <a:p>
            <a:r>
              <a:rPr lang="ru-RU" sz="1800" dirty="0"/>
              <a:t>или клавиатурой. USB (Universal </a:t>
            </a:r>
            <a:r>
              <a:rPr lang="ru-RU" sz="1800" dirty="0" err="1"/>
              <a:t>Serial</a:t>
            </a:r>
            <a:r>
              <a:rPr lang="ru-RU" sz="1800" dirty="0"/>
              <a:t> </a:t>
            </a:r>
            <a:r>
              <a:rPr lang="ru-RU" sz="1800" dirty="0" err="1"/>
              <a:t>Bus</a:t>
            </a:r>
            <a:r>
              <a:rPr lang="ru-RU" sz="1800" dirty="0"/>
              <a:t>): USB является универсальным и</a:t>
            </a:r>
          </a:p>
          <a:p>
            <a:r>
              <a:rPr lang="ru-RU" sz="1800" dirty="0"/>
              <a:t>широко используемым интерфейсом для подключения и питания</a:t>
            </a:r>
          </a:p>
          <a:p>
            <a:r>
              <a:rPr lang="ru-RU" sz="1800" dirty="0"/>
              <a:t>периферийных устройств к компьютерам и микроконтроллерам. Он</a:t>
            </a:r>
          </a:p>
          <a:p>
            <a:r>
              <a:rPr lang="ru-RU" sz="1800" dirty="0"/>
              <a:t>поддерживает передачу данных и электропитание через один и тот же кабель,</a:t>
            </a:r>
          </a:p>
          <a:p>
            <a:r>
              <a:rPr lang="ru-RU" sz="1800" dirty="0"/>
              <a:t>обеспечивая удобство и простоту использования. USB интерфейс отличается</a:t>
            </a:r>
          </a:p>
          <a:p>
            <a:r>
              <a:rPr lang="ru-RU" sz="1800" dirty="0"/>
              <a:t>высокой скоростью передачи данных, гибкостью в подключении различных</a:t>
            </a:r>
          </a:p>
          <a:p>
            <a:r>
              <a:rPr lang="ru-RU" sz="1800" dirty="0"/>
              <a:t>устройств и возможностью горячей замены, что делает его идеальным для</a:t>
            </a:r>
          </a:p>
          <a:p>
            <a:r>
              <a:rPr lang="ru-RU" sz="1800" dirty="0"/>
              <a:t>множества приложений, от </a:t>
            </a:r>
            <a:r>
              <a:rPr lang="ru-RU" sz="1800" dirty="0" err="1"/>
              <a:t>флеш</a:t>
            </a:r>
            <a:r>
              <a:rPr lang="ru-RU" sz="1800" dirty="0"/>
              <a:t>-накопителей до внешних жестких дисков и</a:t>
            </a:r>
          </a:p>
          <a:p>
            <a:r>
              <a:rPr lang="ru-RU" sz="1800" dirty="0"/>
              <a:t>периферийных устройств.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7144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22" y="340468"/>
            <a:ext cx="5017676" cy="155205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Сетевой интерфейс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094" y="3477821"/>
            <a:ext cx="6752226" cy="91285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Сетевой интерфейс — это механизм, который позволяет системе и приложениям обмениваться данными по сети. Сетевые интерфейсы могут быть реализованы через сокеты или более высокоуровневые API.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A92BD32-89E6-E19B-0B1C-E901DB766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8" r="4602" b="12624"/>
          <a:stretch>
            <a:fillRect/>
          </a:stretch>
        </p:blipFill>
        <p:spPr bwMode="auto">
          <a:xfrm>
            <a:off x="7208331" y="2467330"/>
            <a:ext cx="5136069" cy="325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960</Words>
  <Application>Microsoft Office PowerPoint</Application>
  <PresentationFormat>Широкоэкранный</PresentationFormat>
  <Paragraphs>94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Пользовательская</vt:lpstr>
      <vt:lpstr>Лекция № 3. Понятие программного интерфейса, его назначение. Виды интерфейсов</vt:lpstr>
      <vt:lpstr>Интерфейс</vt:lpstr>
      <vt:lpstr>Текстовые интерфейсы</vt:lpstr>
      <vt:lpstr>Презентация PowerPoint</vt:lpstr>
      <vt:lpstr>Графические интерфейсы</vt:lpstr>
      <vt:lpstr>Презентация PowerPoint</vt:lpstr>
      <vt:lpstr>Голосовые интерфейсы</vt:lpstr>
      <vt:lpstr>Программный интерфейс (API)</vt:lpstr>
      <vt:lpstr>API</vt:lpstr>
      <vt:lpstr>Виды интерфейсов</vt:lpstr>
      <vt:lpstr>Пользовательский интерфейс</vt:lpstr>
      <vt:lpstr>Презентация PowerPoint</vt:lpstr>
      <vt:lpstr>Программный интерфейс</vt:lpstr>
      <vt:lpstr>Аппаратный интерфейс (Hardware Interface)</vt:lpstr>
      <vt:lpstr>Сетевой интерфейс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2023-12-12T16:04:07Z</dcterms:created>
  <dcterms:modified xsi:type="dcterms:W3CDTF">2026-01-29T14:43:39Z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
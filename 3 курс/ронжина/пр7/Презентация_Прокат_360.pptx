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67"/>
    <p:restoredTop sz="94610"/>
  </p:normalViewPr>
  <p:slideViewPr>
    <p:cSldViewPr snapToGrid="0" snapToObjects="1">
      <p:cViewPr>
        <p:scale>
          <a:sx n="76" d="100"/>
          <a:sy n="76" d="100"/>
        </p:scale>
        <p:origin x="1296" y="1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0592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25696" cy="6858000"/>
          </a:xfrm>
          <a:prstGeom prst="rect">
            <a:avLst/>
          </a:prstGeom>
          <a:solidFill>
            <a:srgbClr val="1976D2">
              <a:alpha val="92000"/>
            </a:srgbClr>
          </a:solidFill>
          <a:ln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914400"/>
            <a:ext cx="3840480" cy="3840480"/>
          </a:xfrm>
          <a:prstGeom prst="arc">
            <a:avLst/>
          </a:prstGeom>
          <a:noFill/>
          <a:ln w="25400">
            <a:solidFill>
              <a:srgbClr val="8DCC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1920240"/>
            <a:ext cx="2560320" cy="2560320"/>
          </a:xfrm>
          <a:prstGeom prst="arc">
            <a:avLst/>
          </a:prstGeom>
          <a:noFill/>
          <a:ln w="254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03504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603504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ТЕНДЕР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1536192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Прокат 360</a:t>
            </a:r>
            <a:endParaRPr lang="en-US" sz="3700" dirty="0"/>
          </a:p>
        </p:txBody>
      </p:sp>
      <p:sp>
        <p:nvSpPr>
          <p:cNvPr id="8" name="Text 6"/>
          <p:cNvSpPr/>
          <p:nvPr/>
        </p:nvSpPr>
        <p:spPr>
          <a:xfrm>
            <a:off x="658368" y="233172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9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система для выдачи, осмотра, ремонта и контроля просрочек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" y="29992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8C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Рабочие места: оператор · механик · менеджер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5166360"/>
            <a:ext cx="5486400" cy="0"/>
          </a:xfrm>
          <a:prstGeom prst="line">
            <a:avLst/>
          </a:prstGeom>
          <a:noFill/>
          <a:ln w="12700">
            <a:solidFill>
              <a:srgbClr val="4E6E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5376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«Северный код»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57424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8C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Срок: 12 рабочих недель  ·  Бюджет: 1 350 160 ₽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D9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Бумажный журнал не управляет состоянием инвентаря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Ошибки в статусах приводят к конфликтам с клиентами, простоям и потерянной выручке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11064240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048256"/>
            <a:ext cx="320040" cy="320040"/>
          </a:xfrm>
          <a:prstGeom prst="ellipse">
            <a:avLst/>
          </a:prstGeom>
          <a:solidFill>
            <a:srgbClr val="C9343E"/>
          </a:solidFill>
          <a:ln w="12700">
            <a:solidFill>
              <a:srgbClr val="C934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0482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9808" y="25420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Спор о поломке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304495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фото и записи состояния на момент выдачи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8848" y="2048256"/>
            <a:ext cx="320040" cy="320040"/>
          </a:xfrm>
          <a:prstGeom prst="ellipse">
            <a:avLst/>
          </a:prstGeom>
          <a:solidFill>
            <a:srgbClr val="BD7600"/>
          </a:solidFill>
          <a:ln w="12700">
            <a:solidFill>
              <a:srgbClr val="BD76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8848" y="20482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98848" y="25420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Просрочка обнаружена вечером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98848" y="304495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Оператор узнаёт о ней только при ручной сверке журнала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7888" y="2048256"/>
            <a:ext cx="320040" cy="320040"/>
          </a:xfrm>
          <a:prstGeom prst="ellipse">
            <a:avLst/>
          </a:prstGeom>
          <a:solidFill>
            <a:srgbClr val="7559D8"/>
          </a:solidFill>
          <a:ln w="12700">
            <a:solidFill>
              <a:srgbClr val="7559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7888" y="20482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47888" y="25420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Неисправный предмет числится свободным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47888" y="304495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Устная передача информации не блокирует повторную выдачу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315968"/>
            <a:ext cx="11064240" cy="1252728"/>
          </a:xfrm>
          <a:prstGeom prst="roundRect">
            <a:avLst>
              <a:gd name="adj" fmla="val 5839"/>
            </a:avLst>
          </a:prstGeom>
          <a:solidFill>
            <a:srgbClr val="FFF8E9"/>
          </a:solidFill>
          <a:ln w="12700">
            <a:solidFill>
              <a:srgbClr val="F7DC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5537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BD7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Целевая картина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485546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Оператор видит только доступный инвентарь, просрочка появляется в течение 5 минут, а любой дефект создаёт маршрут «карантин → ремонт → проверка».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A9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«Северный код»  ·  Тендерный пакет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A9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«Прокат 360» — одна история для каждой единицы инвентаря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Вместо разрозненных записей — единый сквозной процесс от выдачи до отчёта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11064240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1883664"/>
            <a:ext cx="1956816" cy="228600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" y="2103120"/>
            <a:ext cx="347472" cy="347472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0664" y="2633472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Выдача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0664" y="303580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Договор, залог, чек-лист и фото до выдачи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569464" y="2834640"/>
            <a:ext cx="201168" cy="256032"/>
          </a:xfrm>
          <a:prstGeom prst="chevron">
            <a:avLst/>
          </a:prstGeom>
          <a:solidFill>
            <a:srgbClr val="A9B8C8"/>
          </a:solidFill>
          <a:ln w="12700">
            <a:solidFill>
              <a:srgbClr val="A9B8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43784" y="1883664"/>
            <a:ext cx="1956816" cy="228600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08376" y="2103120"/>
            <a:ext cx="347472" cy="347472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08376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08376" y="2633472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08376" y="303580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Сверка состояния, доплата, новые фото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837176" y="2834640"/>
            <a:ext cx="201168" cy="256032"/>
          </a:xfrm>
          <a:prstGeom prst="chevron">
            <a:avLst/>
          </a:prstGeom>
          <a:solidFill>
            <a:srgbClr val="A9B8C8"/>
          </a:solidFill>
          <a:ln w="12700">
            <a:solidFill>
              <a:srgbClr val="A9B8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1883664"/>
            <a:ext cx="1956816" cy="228600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76088" y="2103120"/>
            <a:ext cx="347472" cy="347472"/>
          </a:xfrm>
          <a:prstGeom prst="ellipse">
            <a:avLst/>
          </a:prstGeom>
          <a:solidFill>
            <a:srgbClr val="BD7600"/>
          </a:solidFill>
          <a:ln w="12700">
            <a:solidFill>
              <a:srgbClr val="BD76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76088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76088" y="2633472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Карантин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76088" y="303580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Подозрение на дефект сразу исключает повторную выдачу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7104888" y="2834640"/>
            <a:ext cx="201168" cy="256032"/>
          </a:xfrm>
          <a:prstGeom prst="chevron">
            <a:avLst/>
          </a:prstGeom>
          <a:solidFill>
            <a:srgbClr val="A9B8C8"/>
          </a:solidFill>
          <a:ln w="12700">
            <a:solidFill>
              <a:srgbClr val="A9B8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79208" y="1883664"/>
            <a:ext cx="1956816" cy="228600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3800" y="2103120"/>
            <a:ext cx="347472" cy="347472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543800" y="2633472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Ремонт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543800" y="303580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Механик получает заявку и ведёт работу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9372600" y="2834640"/>
            <a:ext cx="201168" cy="256032"/>
          </a:xfrm>
          <a:prstGeom prst="chevron">
            <a:avLst/>
          </a:prstGeom>
          <a:solidFill>
            <a:srgbClr val="A9B8C8"/>
          </a:solidFill>
          <a:ln w="12700">
            <a:solidFill>
              <a:srgbClr val="A9B8C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46920" y="1883664"/>
            <a:ext cx="1956816" cy="228600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11512" y="2103120"/>
            <a:ext cx="347472" cy="347472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11512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811512" y="2633472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811512" y="303580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подтверждённо исправная единица снова свободна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576072" y="4617720"/>
            <a:ext cx="10972800" cy="658368"/>
          </a:xfrm>
          <a:prstGeom prst="roundRect">
            <a:avLst>
              <a:gd name="adj" fmla="val 11111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782312"/>
            <a:ext cx="10469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Отличие от универсальных сервисов: компактный сценарий для стойки проката, русскоязычные формы и фиксированная проектная стоимость без платы за каждого сотрудника.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A9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«Северный код»  ·  Тендерный пакет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A9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ФУНКЦИИ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критичные операции закрыты в первой версии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функциональных требований: от QR-карточки инвентаря до аудита и резервного копирования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11064240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65376"/>
            <a:ext cx="146304" cy="14630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828800"/>
            <a:ext cx="4480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Оператор: выдача и возврат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1832" y="20574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Договор, тариф, залог, обязательный фотоосмотр и акт в PDF.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2779776"/>
            <a:ext cx="146304" cy="146304"/>
          </a:xfrm>
          <a:prstGeom prst="ellipse">
            <a:avLst/>
          </a:prstGeom>
          <a:solidFill>
            <a:srgbClr val="BD7600"/>
          </a:solidFill>
          <a:ln w="12700">
            <a:solidFill>
              <a:srgbClr val="BD7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743200"/>
            <a:ext cx="4480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статусов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41832" y="29718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«Ремонт» и «карантин» физически не попадут в новую выдачу.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3694176"/>
            <a:ext cx="146304" cy="146304"/>
          </a:xfrm>
          <a:prstGeom prst="ellipse">
            <a:avLst/>
          </a:prstGeom>
          <a:solidFill>
            <a:srgbClr val="C9343E"/>
          </a:solidFill>
          <a:ln w="12700">
            <a:solidFill>
              <a:srgbClr val="C934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657600"/>
            <a:ext cx="4480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Просрочки в реальном времени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41832" y="38862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Подсветка и уведомление не позднее чем через 5 минут.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09360" y="1865376"/>
            <a:ext cx="146304" cy="14630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1828800"/>
            <a:ext cx="4480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Мастерская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65392" y="20574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Очередь дефектов, приоритеты, ответственный и контрольный осмотр.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09360" y="2779776"/>
            <a:ext cx="146304" cy="146304"/>
          </a:xfrm>
          <a:prstGeom prst="ellipse">
            <a:avLst/>
          </a:prstGeom>
          <a:solidFill>
            <a:srgbClr val="138A5A"/>
          </a:solidFill>
          <a:ln w="12700">
            <a:solidFill>
              <a:srgbClr val="138A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2743200"/>
            <a:ext cx="4480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Менеджер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65392" y="29718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парка, выручка, простои, просрочки и экспорт.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09360" y="3694176"/>
            <a:ext cx="146304" cy="146304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65392" y="3657600"/>
            <a:ext cx="4480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65392" y="38862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Роли, HTTPS, аудит действий и ежедневные резервные копии.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" y="4919472"/>
            <a:ext cx="10789920" cy="484632"/>
          </a:xfrm>
          <a:prstGeom prst="roundRect">
            <a:avLst>
              <a:gd name="adj" fmla="val 15094"/>
            </a:avLst>
          </a:prstGeom>
          <a:solidFill>
            <a:srgbClr val="EFFAF4"/>
          </a:solidFill>
          <a:ln w="12700">
            <a:solidFill>
              <a:srgbClr val="D5F0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074920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C6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Персональные данные минимизированы: номер паспорта в системе не хранится; учёт залога ведётся по типу, сумме и ответственному.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A9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«Северный код»  ·  Тендерный пакет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A9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ИНТЕРФЕЙСЫ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Прототип рассчитан на быстрые решения на стойке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Семь экранов: авторизация, оператор, выдача, возврат, инвентарь, мастерская и отчёты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11064240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pic>
        <p:nvPicPr>
          <p:cNvPr id="6" name="Image 0" descr="/workspace/тендер_Прокат_360/скриншоты/01_панель_оператора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1664208"/>
            <a:ext cx="5486400" cy="3767328"/>
          </a:xfrm>
          <a:prstGeom prst="rect">
            <a:avLst/>
          </a:prstGeom>
        </p:spPr>
      </p:pic>
      <p:pic>
        <p:nvPicPr>
          <p:cNvPr id="7" name="Image 1" descr="/workspace/тендер_Прокат_360/скриншоты/02_новая_выдача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72200" y="1664208"/>
            <a:ext cx="5486400" cy="3767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5641848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Панель оператора: доступность, выдачи и просрочки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6391656" y="5641848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Новая выдача: договор, залог и осмотр до выдачи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4864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A9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«Северный код»  ·  Тендерный пакет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A9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Простое веб-решение с предсказуемой эксплуатацией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работает в браузере на ПК или планшете; бизнес-правила и доступ контролируются сервером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11064240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4028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2240279"/>
            <a:ext cx="1664208" cy="1142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Оператор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Механик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Менеджер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03320" y="224028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EAF4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2240279"/>
            <a:ext cx="1920240" cy="1142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веб-интерфейс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29400" y="224028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EAF4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57416" y="2240279"/>
            <a:ext cx="1664208" cy="1142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 API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4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 и бизнес-правила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55480" y="1673352"/>
            <a:ext cx="1920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83496" y="1664209"/>
            <a:ext cx="1664208" cy="9966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договоры и статусы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55480" y="2971800"/>
            <a:ext cx="1920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83496" y="2971795"/>
            <a:ext cx="1664208" cy="9875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S3-хранилище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и PDF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24912" y="2807208"/>
            <a:ext cx="932688" cy="0"/>
          </a:xfrm>
          <a:prstGeom prst="line">
            <a:avLst/>
          </a:prstGeom>
          <a:noFill/>
          <a:ln w="22860">
            <a:solidFill>
              <a:srgbClr val="84A6C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50992" y="2807208"/>
            <a:ext cx="932688" cy="0"/>
          </a:xfrm>
          <a:prstGeom prst="line">
            <a:avLst/>
          </a:prstGeom>
          <a:noFill/>
          <a:ln w="22860">
            <a:solidFill>
              <a:srgbClr val="84A6C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577072" y="2450592"/>
            <a:ext cx="932688" cy="0"/>
          </a:xfrm>
          <a:prstGeom prst="line">
            <a:avLst/>
          </a:prstGeom>
          <a:noFill/>
          <a:ln w="22860">
            <a:solidFill>
              <a:srgbClr val="84A6C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77072" y="3154680"/>
            <a:ext cx="932688" cy="0"/>
          </a:xfrm>
          <a:prstGeom prst="line">
            <a:avLst/>
          </a:prstGeom>
          <a:noFill/>
          <a:ln w="22860">
            <a:solidFill>
              <a:srgbClr val="84A6C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999232" y="4782312"/>
            <a:ext cx="6181344" cy="667512"/>
          </a:xfrm>
          <a:prstGeom prst="roundRect">
            <a:avLst>
              <a:gd name="adj" fmla="val 10959"/>
            </a:avLst>
          </a:prstGeom>
          <a:solidFill>
            <a:srgbClr val="FFF8E9"/>
          </a:solidFill>
          <a:ln w="12700">
            <a:solidFill>
              <a:srgbClr val="F7DC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3552" y="496519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0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Защита: HTTPS · пароли в стойких хешах · роли доступа · неизменяемый аудит · ежедневный бэкап. Цели восстановления: RPO 24 ч, RTO 4 ч.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A9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«Северный код»  ·  Тендерный пакет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A9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И БЮДЖЕТ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Реализация за 12 рабочих недель в пределах лимита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Итоговая цена включает 12 % резерв на согласованные риски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11064240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37360"/>
            <a:ext cx="256032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86537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58952" y="20848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недель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58952" y="24871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более 3 месяцев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364992" y="1737360"/>
            <a:ext cx="256032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86537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29584" y="20848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3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1,35 млн ₽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529584" y="24871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включая резерв 144 660 ₽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35624" y="1737360"/>
            <a:ext cx="256032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186537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ПОЛЬЗОВАТЕЛИ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300216" y="20848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20–50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300216" y="24871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ключевые роли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906256" y="1737360"/>
            <a:ext cx="256032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70848" y="186537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TCO 3 ГОДА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070848" y="20848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755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1,61 млн ₽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070848" y="24871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поддержкой и инфраструктурой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40080" y="3182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бюджета, тыс. ₽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" y="356616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2880360" y="3575304"/>
            <a:ext cx="3456146" cy="13716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84848" y="35661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737,5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658368" y="395020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и дизайн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2880360" y="3959352"/>
            <a:ext cx="1148144" cy="137160"/>
          </a:xfrm>
          <a:prstGeom prst="rect">
            <a:avLst/>
          </a:prstGeom>
          <a:solidFill>
            <a:srgbClr val="138A5A"/>
          </a:solidFill>
          <a:ln w="12700">
            <a:solidFill>
              <a:srgbClr val="138A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84848" y="395020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245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658368" y="433425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2880360" y="4343400"/>
            <a:ext cx="398335" cy="137160"/>
          </a:xfrm>
          <a:prstGeom prst="rect">
            <a:avLst/>
          </a:prstGeom>
          <a:solidFill>
            <a:srgbClr val="BD7600"/>
          </a:solidFill>
          <a:ln w="12700">
            <a:solidFill>
              <a:srgbClr val="BD76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84848" y="433425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658368" y="471830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Внедрение, поддержка, инфраструктура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2880360" y="4727448"/>
            <a:ext cx="646709" cy="137160"/>
          </a:xfrm>
          <a:prstGeom prst="rect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84848" y="4718304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658368" y="510235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2880360" y="5111496"/>
            <a:ext cx="677920" cy="137160"/>
          </a:xfrm>
          <a:prstGeom prst="rect">
            <a:avLst/>
          </a:prstGeom>
          <a:solidFill>
            <a:srgbClr val="7559D8"/>
          </a:solidFill>
          <a:ln w="12700">
            <a:solidFill>
              <a:srgbClr val="7559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84848" y="51023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144,66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7909560" y="3154680"/>
            <a:ext cx="324612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65592" y="34107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Календарный план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165592" y="3785616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345168" y="3794760"/>
            <a:ext cx="146975" cy="109728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65592" y="4050792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9729216" y="4059936"/>
            <a:ext cx="127848" cy="109728"/>
          </a:xfrm>
          <a:prstGeom prst="rect">
            <a:avLst/>
          </a:prstGeom>
          <a:solidFill>
            <a:srgbClr val="4EA2E8"/>
          </a:solidFill>
          <a:ln w="12700">
            <a:solidFill>
              <a:srgbClr val="4EA2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65592" y="4315968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857064" y="4325112"/>
            <a:ext cx="541090" cy="109728"/>
          </a:xfrm>
          <a:prstGeom prst="rect">
            <a:avLst/>
          </a:prstGeom>
          <a:solidFill>
            <a:srgbClr val="138A5A"/>
          </a:solidFill>
          <a:ln w="12700">
            <a:solidFill>
              <a:srgbClr val="138A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65592" y="4581144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0260827" y="4599432"/>
            <a:ext cx="457200" cy="109728"/>
          </a:xfrm>
          <a:prstGeom prst="rect">
            <a:avLst/>
          </a:prstGeom>
          <a:solidFill>
            <a:srgbClr val="BD7600"/>
          </a:solidFill>
          <a:ln w="12700">
            <a:solidFill>
              <a:srgbClr val="BD76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65592" y="4846320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0726198" y="4864608"/>
            <a:ext cx="256032" cy="109728"/>
          </a:xfrm>
          <a:prstGeom prst="rect">
            <a:avLst/>
          </a:prstGeom>
          <a:solidFill>
            <a:srgbClr val="7559D8"/>
          </a:solidFill>
          <a:ln w="12700">
            <a:solidFill>
              <a:srgbClr val="7559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345168" y="5138928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1       3       5       7       9      11      12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54864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A9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«Северный код»  ·  Тендерный пакет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A9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Начинаем с пилота — затем быстро масштабируем на весь пункт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Параллельная работа с бумажным журналом сохраняется только на ограниченный период контроля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11064240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920240"/>
            <a:ext cx="1600200" cy="246888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2139696"/>
            <a:ext cx="283464" cy="28346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139695"/>
            <a:ext cx="283464" cy="283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2651760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749808" y="30632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 рабочих мест, резервная копия, инвентаризация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78024" y="1920240"/>
            <a:ext cx="1600200" cy="246888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33472" y="2139696"/>
            <a:ext cx="283464" cy="28346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2139695"/>
            <a:ext cx="283464" cy="283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24328" y="2651760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2624328" y="30632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Развёртывание, роли, тарифы, категории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52544" y="1920240"/>
            <a:ext cx="1600200" cy="246888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07992" y="2139696"/>
            <a:ext cx="283464" cy="28346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07992" y="2139694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498848" y="2651760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Миграция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4498848" y="30632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справочника и актуальных договоров, сверка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27064" y="1920240"/>
            <a:ext cx="1600200" cy="246888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82512" y="2139696"/>
            <a:ext cx="283464" cy="283464"/>
          </a:xfrm>
          <a:prstGeom prst="ellipse">
            <a:avLst/>
          </a:prstGeom>
          <a:solidFill>
            <a:srgbClr val="BD7600"/>
          </a:solidFill>
          <a:ln w="12700">
            <a:solidFill>
              <a:srgbClr val="BD76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2139694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373368" y="2651760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6373368" y="30632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сотрудника, реальные операции, реестр замечаний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101584" y="1920240"/>
            <a:ext cx="1600200" cy="246888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57032" y="2139696"/>
            <a:ext cx="283464" cy="28346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57032" y="2121409"/>
            <a:ext cx="283464" cy="301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247888" y="2651760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8247888" y="30632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 по ролям, памятки, тестовый стенд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976104" y="1920240"/>
            <a:ext cx="1600200" cy="246888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31552" y="2139696"/>
            <a:ext cx="283464" cy="28346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31552" y="2139694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122408" y="2651760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запуск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10122408" y="30632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пользователи, контроль первой смены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03504" y="4873752"/>
            <a:ext cx="10972800" cy="585216"/>
          </a:xfrm>
          <a:prstGeom prst="roundRect">
            <a:avLst>
              <a:gd name="adj" fmla="val 12500"/>
            </a:avLst>
          </a:prstGeom>
          <a:solidFill>
            <a:srgbClr val="EFFAF4"/>
          </a:solidFill>
          <a:ln w="12700">
            <a:solidFill>
              <a:srgbClr val="D5F0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" y="5065776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C6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Обучение: операторы — 2 часа; механики — 1,5 часа; менеджеры — 1,5 часа. После запуска — 12 месяцев сопровождения и мониторинга резервных копий.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A9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«Северный код»  ·  Тендерный пакет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A9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РИСКИ И ОТКАТ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Контролируем переход так, чтобы прокат не остановился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Риски обрабатываются до запуска; для критических ситуаций предусмотрен короткий план отката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11064240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783080"/>
            <a:ext cx="68580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920240"/>
            <a:ext cx="2057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Неверный стартовый реестр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2971800" y="1892808"/>
            <a:ext cx="475488" cy="210312"/>
          </a:xfrm>
          <a:prstGeom prst="roundRect">
            <a:avLst>
              <a:gd name="adj" fmla="val 34783"/>
            </a:avLst>
          </a:prstGeom>
          <a:solidFill>
            <a:srgbClr val="C9343E"/>
          </a:solidFill>
          <a:ln w="12700">
            <a:solidFill>
              <a:srgbClr val="C934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1892808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611880" y="1920240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Инвентаризация + тестовая миграция + акт сверки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1792" y="2377440"/>
            <a:ext cx="68580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514600"/>
            <a:ext cx="2057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Фотоосмотр пропускают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2971800" y="2487168"/>
            <a:ext cx="475488" cy="210312"/>
          </a:xfrm>
          <a:prstGeom prst="roundRect">
            <a:avLst>
              <a:gd name="adj" fmla="val 34783"/>
            </a:avLst>
          </a:prstGeom>
          <a:solidFill>
            <a:srgbClr val="BD7600"/>
          </a:solidFill>
          <a:ln w="12700">
            <a:solidFill>
              <a:srgbClr val="BD76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2487168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611880" y="2514600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Обязательный чек-лист, обучение, контроль первых смен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1792" y="2971800"/>
            <a:ext cx="68580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108960"/>
            <a:ext cx="2057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Сотрудники не принимают процесс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2971800" y="3081528"/>
            <a:ext cx="475488" cy="210312"/>
          </a:xfrm>
          <a:prstGeom prst="roundRect">
            <a:avLst>
              <a:gd name="adj" fmla="val 34783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3081528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611880" y="3108960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 с ключевыми пользователями, памятки и поддержка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1792" y="3566160"/>
            <a:ext cx="68580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3703320"/>
            <a:ext cx="2057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Недоступность сети/сервера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2971800" y="3675888"/>
            <a:ext cx="475488" cy="210312"/>
          </a:xfrm>
          <a:prstGeom prst="roundRect">
            <a:avLst>
              <a:gd name="adj" fmla="val 34783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71800" y="3675888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611880" y="3703320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Мониторинг, бэкапы, аварийная бумажная форма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909560" y="1773936"/>
            <a:ext cx="3593592" cy="3090672"/>
          </a:xfrm>
          <a:prstGeom prst="roundRect">
            <a:avLst>
              <a:gd name="adj" fmla="val 2367"/>
            </a:avLst>
          </a:prstGeom>
          <a:solidFill>
            <a:srgbClr val="FFF8E9"/>
          </a:solidFill>
          <a:ln w="12700">
            <a:solidFill>
              <a:srgbClr val="F7DCA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74736" y="2029968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BD7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откатываемся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74736" y="2459736"/>
            <a:ext cx="2898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70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несоответствие &gt;1 % активных договоров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0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выдача или возврат не работают &gt;30 минут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0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критический дефект не устранён за 4 часа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0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Решение: менеджер заказчика + руководитель проекта.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74736" y="4151376"/>
            <a:ext cx="2898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70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Откат: бумажная форма → снимок данных → восстановление на отдельном контуре → сверка активных договоров → повторный пилот.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A9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«Северный код»  ·  Тендерный пакет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A9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217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«Прокат 360»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887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B8C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Измеримый эффект, понятное внедрение и решение в рамках тендерного лимита.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1920240"/>
            <a:ext cx="3429000" cy="1060704"/>
          </a:xfrm>
          <a:prstGeom prst="roundRect">
            <a:avLst>
              <a:gd name="adj" fmla="val 6897"/>
            </a:avLst>
          </a:prstGeom>
          <a:solidFill>
            <a:srgbClr val="1A3453"/>
          </a:solidFill>
          <a:ln w="12700">
            <a:solidFill>
              <a:srgbClr val="3155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13969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8D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5 минут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1248" y="257860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9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оформление типовой выдачи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453128" y="1920240"/>
            <a:ext cx="3429000" cy="1060704"/>
          </a:xfrm>
          <a:prstGeom prst="roundRect">
            <a:avLst>
              <a:gd name="adj" fmla="val 6897"/>
            </a:avLst>
          </a:prstGeom>
          <a:solidFill>
            <a:srgbClr val="1A3453"/>
          </a:solidFill>
          <a:ln w="12700">
            <a:solidFill>
              <a:srgbClr val="3155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6008" y="213969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8D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5 минут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36008" y="257860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9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обнаружение просрочки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8368" y="3383280"/>
            <a:ext cx="3429000" cy="1060704"/>
          </a:xfrm>
          <a:prstGeom prst="roundRect">
            <a:avLst>
              <a:gd name="adj" fmla="val 6897"/>
            </a:avLst>
          </a:prstGeom>
          <a:solidFill>
            <a:srgbClr val="1A3453"/>
          </a:solidFill>
          <a:ln w="12700">
            <a:solidFill>
              <a:srgbClr val="3155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60273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8D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случаев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41248" y="404164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9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повторной выдачи инвентаря в ремонте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53128" y="3383280"/>
            <a:ext cx="3429000" cy="1060704"/>
          </a:xfrm>
          <a:prstGeom prst="roundRect">
            <a:avLst>
              <a:gd name="adj" fmla="val 6897"/>
            </a:avLst>
          </a:prstGeom>
          <a:solidFill>
            <a:srgbClr val="1A3453"/>
          </a:solidFill>
          <a:ln w="12700">
            <a:solidFill>
              <a:srgbClr val="3155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360273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8D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36008" y="404164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9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актуальных статусов на контрольной выборке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549640" y="1920240"/>
            <a:ext cx="2377440" cy="2926080"/>
          </a:xfrm>
          <a:prstGeom prst="roundRect">
            <a:avLst>
              <a:gd name="adj" fmla="val 3077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23960" y="2395728"/>
            <a:ext cx="1828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1,35</a:t>
            </a:r>
            <a:endParaRPr lang="en-US" sz="2700" dirty="0"/>
          </a:p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млн ₽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8823960" y="332841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E6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рабочих недель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6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20–50 пользователей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6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роли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56235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 начать с анализа процессов и прототипа.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0807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B8C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«Северный код» · Тендерный пакет · 2026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201400" y="64739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D9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920</Words>
  <Application>Microsoft Macintosh PowerPoint</Application>
  <PresentationFormat>Widescreen</PresentationFormat>
  <Paragraphs>197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ООО «Северный код»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Прокат 360</dc:title>
  <dc:subject>Тендерный пакет Прокат 360</dc:subject>
  <dc:creator>ООО «Северный код»</dc:creator>
  <cp:lastModifiedBy>Diana Nikitina</cp:lastModifiedBy>
  <cp:revision>2</cp:revision>
  <dcterms:created xsi:type="dcterms:W3CDTF">2026-10-19T07:34:41Z</dcterms:created>
  <dcterms:modified xsi:type="dcterms:W3CDTF">2026-10-23T09:05:07Z</dcterms:modified>
</cp:coreProperties>
</file>